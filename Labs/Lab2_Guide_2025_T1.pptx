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32"/>
  </p:notesMasterIdLst>
  <p:handoutMasterIdLst>
    <p:handoutMasterId r:id="rId33"/>
  </p:handoutMasterIdLst>
  <p:sldIdLst>
    <p:sldId id="274" r:id="rId7"/>
    <p:sldId id="389" r:id="rId8"/>
    <p:sldId id="374" r:id="rId9"/>
    <p:sldId id="386" r:id="rId10"/>
    <p:sldId id="387" r:id="rId11"/>
    <p:sldId id="345" r:id="rId12"/>
    <p:sldId id="346" r:id="rId13"/>
    <p:sldId id="359" r:id="rId14"/>
    <p:sldId id="328" r:id="rId15"/>
    <p:sldId id="365" r:id="rId16"/>
    <p:sldId id="353" r:id="rId17"/>
    <p:sldId id="383" r:id="rId18"/>
    <p:sldId id="362" r:id="rId19"/>
    <p:sldId id="341" r:id="rId20"/>
    <p:sldId id="358" r:id="rId21"/>
    <p:sldId id="354" r:id="rId22"/>
    <p:sldId id="366" r:id="rId23"/>
    <p:sldId id="360" r:id="rId24"/>
    <p:sldId id="368" r:id="rId25"/>
    <p:sldId id="369" r:id="rId26"/>
    <p:sldId id="370" r:id="rId27"/>
    <p:sldId id="355" r:id="rId28"/>
    <p:sldId id="371" r:id="rId29"/>
    <p:sldId id="372" r:id="rId30"/>
    <p:sldId id="373" r:id="rId31"/>
  </p:sldIdLst>
  <p:sldSz cx="12192000" cy="6858000"/>
  <p:notesSz cx="6858000" cy="9144000"/>
  <p:embeddedFontLst>
    <p:embeddedFont>
      <p:font typeface="Clancy" pitchFamily="2" charset="77"/>
      <p:regular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/>
    <p:restoredTop sz="94652"/>
  </p:normalViewPr>
  <p:slideViewPr>
    <p:cSldViewPr snapToGrid="0">
      <p:cViewPr varScale="1">
        <p:scale>
          <a:sx n="119" d="100"/>
          <a:sy n="119" d="100"/>
        </p:scale>
        <p:origin x="208" y="6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3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2.fntdata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8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41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2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0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52D8F1-025F-1B45-BD8A-D1664CE56E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73346" y="-446589"/>
            <a:ext cx="7124888" cy="76747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A4A11-68D0-0342-99AF-D474A68AB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999759">
            <a:off x="1292068" y="-612610"/>
            <a:ext cx="5135041" cy="700233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0" y="1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731078-F8F9-874A-9D19-CFDFD455C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597677">
            <a:off x="2348756" y="-999555"/>
            <a:ext cx="7882815" cy="9308122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558CEE-1ED1-964F-9B8D-652B718B58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462306">
            <a:off x="290281" y="727049"/>
            <a:ext cx="6021559" cy="814966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2624400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Secondary details go here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Title goes here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25/2/2025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0152-CCCB-4170-9ECC-EC29A20A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8800" dirty="0"/>
              <a:t>COMP9900</a:t>
            </a:r>
            <a:br>
              <a:rPr lang="en-AU" sz="8800" dirty="0"/>
            </a:br>
            <a:r>
              <a:rPr lang="en-AU" sz="8800" dirty="0"/>
              <a:t>Lab 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EBBF-FB59-4027-8091-64A514BA8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56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1733-1764-F329-89BA-A2E2ECDE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DA1C-976E-5180-0B64-E820326B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Guest Lecture – Atlassian	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57DD-D083-B180-5FB6-4D9AF2951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There is a guest lecture with a senior developer with </a:t>
            </a:r>
            <a:r>
              <a:rPr lang="en-GB" sz="4000" b="1" dirty="0"/>
              <a:t>Atlassian</a:t>
            </a:r>
            <a:r>
              <a:rPr lang="en-GB" sz="4000" dirty="0"/>
              <a:t> in </a:t>
            </a:r>
            <a:r>
              <a:rPr lang="en-GB" sz="4000" b="1" dirty="0"/>
              <a:t>Week 3.</a:t>
            </a:r>
          </a:p>
          <a:p>
            <a:endParaRPr lang="en-GB" sz="4000" b="1" dirty="0"/>
          </a:p>
          <a:p>
            <a:r>
              <a:rPr lang="en-GB" sz="4000" dirty="0"/>
              <a:t>This lecture will be very useful for your proposal and your system, so you are encouraged to attend!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80001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Software Fundamentals Primers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sz="3600" b="1" u="sng" dirty="0"/>
              <a:t>A</a:t>
            </a:r>
            <a:r>
              <a:rPr lang="en-AU" sz="3600" b="1" u="sng" dirty="0" err="1"/>
              <a:t>ll</a:t>
            </a:r>
            <a:r>
              <a:rPr lang="en-AU" sz="3600" b="1" dirty="0"/>
              <a:t> students </a:t>
            </a:r>
            <a:r>
              <a:rPr lang="en-AU" sz="3600" dirty="0"/>
              <a:t>must complete the Git, Docker and Python primers by </a:t>
            </a:r>
            <a:r>
              <a:rPr lang="en-AU" sz="3600" b="1" dirty="0"/>
              <a:t>Week 3 Lab (next week).</a:t>
            </a:r>
            <a:endParaRPr lang="en-AU" sz="3600" dirty="0"/>
          </a:p>
          <a:p>
            <a:pPr>
              <a:buNone/>
            </a:pPr>
            <a:endParaRPr lang="en-AU" sz="3600" b="1" dirty="0"/>
          </a:p>
          <a:p>
            <a:pPr>
              <a:buNone/>
            </a:pPr>
            <a:r>
              <a:rPr lang="en-AU" sz="3600" b="1" dirty="0"/>
              <a:t>This is worth 5% of your Individual Contributions and Participation Mark.</a:t>
            </a:r>
            <a:endParaRPr lang="en-AU" sz="3600" dirty="0"/>
          </a:p>
          <a:p>
            <a:pPr>
              <a:buNone/>
            </a:pPr>
            <a:endParaRPr lang="en-AU" sz="3600" b="1" dirty="0"/>
          </a:p>
          <a:p>
            <a:pPr>
              <a:buNone/>
            </a:pPr>
            <a:r>
              <a:rPr lang="en-AU" sz="3600" dirty="0"/>
              <a:t>We will be checking them during next week’s lab. No submission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17894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2CEE-EC01-BEE8-038C-C797301C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Teamwork and Collaboration Assessment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9626B-2FF9-B6B1-F743-E35F8BCB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600" dirty="0"/>
              <a:t>Please take a look at the </a:t>
            </a:r>
            <a:r>
              <a:rPr lang="en-GB" sz="3600" b="1" dirty="0"/>
              <a:t>Teamwork and Collaboration </a:t>
            </a:r>
            <a:r>
              <a:rPr lang="en-GB" sz="3600" dirty="0"/>
              <a:t>assessment on Week. It’s held in Week 9, but it </a:t>
            </a:r>
            <a:r>
              <a:rPr lang="en-GB" sz="3600" b="1" dirty="0"/>
              <a:t>assesses your work throughout the term.</a:t>
            </a:r>
            <a:r>
              <a:rPr lang="en-GB" sz="3600" dirty="0"/>
              <a:t> </a:t>
            </a:r>
            <a:r>
              <a:rPr lang="en-AU" sz="3600" dirty="0"/>
              <a:t>Make sure you are 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/>
              <a:t>keeping </a:t>
            </a:r>
            <a:r>
              <a:rPr lang="en-AU" sz="3600" b="1" dirty="0"/>
              <a:t>meeting notes</a:t>
            </a:r>
            <a:r>
              <a:rPr lang="en-AU" sz="3600" dirty="0"/>
              <a:t>, 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/>
              <a:t>maintaining</a:t>
            </a:r>
            <a:r>
              <a:rPr lang="en-AU" sz="3600" b="1" dirty="0"/>
              <a:t> good internal communication</a:t>
            </a:r>
            <a:r>
              <a:rPr lang="en-AU" sz="3600" dirty="0"/>
              <a:t>, 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/>
              <a:t>making good use of </a:t>
            </a:r>
            <a:r>
              <a:rPr lang="en-AU" sz="3600" b="1" dirty="0"/>
              <a:t>Jira</a:t>
            </a:r>
            <a:r>
              <a:rPr lang="en-AU" sz="3600" dirty="0"/>
              <a:t> and 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/>
              <a:t>following good </a:t>
            </a:r>
            <a:r>
              <a:rPr lang="en-AU" sz="3600" b="1" dirty="0"/>
              <a:t>git</a:t>
            </a:r>
            <a:r>
              <a:rPr lang="en-AU" sz="3600" dirty="0"/>
              <a:t> practices.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1189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38A9-7ADF-49FF-FAB7-984EB8167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8D53-919E-8C62-25A0-12D15078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 Communication Issues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EEC5-93FD-A15E-1111-14DF5B6ED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If you ever have issues communicating with your client, let us know </a:t>
            </a:r>
            <a:r>
              <a:rPr lang="en-GB" sz="4000" b="1" dirty="0"/>
              <a:t>earlier</a:t>
            </a:r>
            <a:r>
              <a:rPr lang="en-GB" sz="4000" dirty="0"/>
              <a:t> rather than later.</a:t>
            </a:r>
          </a:p>
          <a:p>
            <a:endParaRPr lang="en-GB" sz="4000" dirty="0"/>
          </a:p>
          <a:p>
            <a:r>
              <a:rPr lang="en-GB" sz="4000" dirty="0"/>
              <a:t>Don’t bear with it in silence. We can help you resolve issues.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46466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E936-90F5-4611-9FEA-757F1687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8800" dirty="0"/>
              <a:t>Proposal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99562-7776-4601-A91C-600F2459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60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AU" sz="3600" dirty="0"/>
              <a:t>Due: Sunday Week 3 (2nd March) 9PM. </a:t>
            </a:r>
          </a:p>
          <a:p>
            <a:pPr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This term, the proposal has been revamped to place a greater emphasis on design. </a:t>
            </a:r>
          </a:p>
          <a:p>
            <a:pPr marL="0" indent="0">
              <a:buNone/>
            </a:pPr>
            <a:endParaRPr lang="en-AU" sz="3600" b="1" dirty="0"/>
          </a:p>
          <a:p>
            <a:pPr marL="0" indent="0">
              <a:buNone/>
            </a:pPr>
            <a:r>
              <a:rPr lang="en-AU" sz="3600" b="1" dirty="0"/>
              <a:t>For a high mark, it is not sufficient to ‘check off’ the requirements of the specification. We need to see strong consideration of design.</a:t>
            </a:r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58495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Formatting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There are formatting requirements laid out in the specification.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Make sure you comply with all of them, or marks will be lost.</a:t>
            </a:r>
          </a:p>
        </p:txBody>
      </p:sp>
    </p:spTree>
    <p:extLst>
      <p:ext uri="{BB962C8B-B14F-4D97-AF65-F5344CB8AC3E}">
        <p14:creationId xmlns:p14="http://schemas.microsoft.com/office/powerpoint/2010/main" val="311588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1: Background (15%)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/>
              <a:t>1. Identify the </a:t>
            </a:r>
            <a:r>
              <a:rPr lang="en-AU" sz="3600" b="1" dirty="0"/>
              <a:t>problem domain </a:t>
            </a:r>
            <a:r>
              <a:rPr lang="en-AU" sz="3600" dirty="0"/>
              <a:t>and </a:t>
            </a:r>
            <a:r>
              <a:rPr lang="en-AU" sz="3600" b="1" dirty="0"/>
              <a:t>problem(s) being solved</a:t>
            </a:r>
            <a:r>
              <a:rPr lang="en-AU" sz="3600" dirty="0"/>
              <a:t>. Add a brief summary of your solution.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Identifying the </a:t>
            </a:r>
            <a:r>
              <a:rPr lang="en-AU" sz="3600" b="1" dirty="0"/>
              <a:t>problem domain </a:t>
            </a:r>
            <a:r>
              <a:rPr lang="en-AU" sz="3600" dirty="0"/>
              <a:t>requires identifying the </a:t>
            </a:r>
            <a:r>
              <a:rPr lang="en-AU" sz="3600" b="1" dirty="0"/>
              <a:t>context</a:t>
            </a:r>
            <a:r>
              <a:rPr lang="en-AU" sz="3600" dirty="0"/>
              <a:t> and </a:t>
            </a:r>
            <a:r>
              <a:rPr lang="en-AU" sz="3600" b="1" dirty="0"/>
              <a:t>area/subject matter</a:t>
            </a:r>
            <a:r>
              <a:rPr lang="en-AU" sz="3600" dirty="0"/>
              <a:t> of your project.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altLang="ja-JP" sz="3600" dirty="0"/>
              <a:t>The summary of your solution should </a:t>
            </a:r>
            <a:r>
              <a:rPr lang="en-AU" altLang="ja-JP" sz="3600" b="1" dirty="0"/>
              <a:t>relate</a:t>
            </a:r>
            <a:r>
              <a:rPr lang="en-AU" altLang="ja-JP" sz="3600" dirty="0"/>
              <a:t> </a:t>
            </a:r>
            <a:r>
              <a:rPr lang="en-AU" altLang="ja-JP" sz="3600" b="1" dirty="0"/>
              <a:t>to </a:t>
            </a:r>
            <a:r>
              <a:rPr lang="en-AU" altLang="ja-JP" sz="3600" dirty="0"/>
              <a:t>the context and area you identified.</a:t>
            </a: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47992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1: Background (15%)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600" dirty="0"/>
              <a:t>2. Discuss at least two existing related works or systems in your identified problem domain. For each related work, make sure you: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Describe the </a:t>
            </a:r>
            <a:r>
              <a:rPr lang="en-GB" sz="3600" b="1" dirty="0"/>
              <a:t>problem</a:t>
            </a:r>
            <a:r>
              <a:rPr lang="en-GB" sz="3600" dirty="0"/>
              <a:t> their system solves.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Identify and discuss any </a:t>
            </a:r>
            <a:r>
              <a:rPr lang="en-GB" sz="3600" b="1" dirty="0"/>
              <a:t>strengths</a:t>
            </a:r>
            <a:r>
              <a:rPr lang="en-GB" sz="3600" dirty="0"/>
              <a:t> of their work that you will take into consideration in your design.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Identify and discuss any </a:t>
            </a:r>
            <a:r>
              <a:rPr lang="en-GB" sz="3600" b="1" dirty="0"/>
              <a:t>weaknesses</a:t>
            </a:r>
            <a:r>
              <a:rPr lang="en-GB" sz="3600" dirty="0"/>
              <a:t> or limitations of their work that you will avoid or overcome with your design.</a:t>
            </a:r>
          </a:p>
          <a:p>
            <a:pPr marL="742950" indent="-742950">
              <a:buFont typeface="+mj-lt"/>
              <a:buAutoNum type="arabicPeriod"/>
            </a:pPr>
            <a:r>
              <a:rPr lang="en-GB" sz="3600" dirty="0"/>
              <a:t>Make sure to </a:t>
            </a:r>
            <a:r>
              <a:rPr lang="en-GB" sz="3600" b="1" dirty="0"/>
              <a:t>reference</a:t>
            </a:r>
            <a:r>
              <a:rPr lang="en-GB" sz="3600" dirty="0"/>
              <a:t> all works you discuss following the recommended referencing guidelines.</a:t>
            </a:r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9980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User stories &amp; sprints (25%)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3600" dirty="0"/>
              <a:t>1. Include a product backlog of </a:t>
            </a:r>
            <a:r>
              <a:rPr lang="en-GB" sz="3600" b="1" dirty="0"/>
              <a:t>correctly structured user stories</a:t>
            </a:r>
            <a:r>
              <a:rPr lang="en-GB" sz="3600" dirty="0"/>
              <a:t>, describing the functionality to be delivered, with screenshots showing all these user stories defined in Jira.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User stories must be </a:t>
            </a:r>
            <a:r>
              <a:rPr lang="en-AU" sz="3600" b="1" dirty="0"/>
              <a:t>correctly structured</a:t>
            </a:r>
            <a:r>
              <a:rPr lang="en-AU" sz="3600" dirty="0"/>
              <a:t> in that they have the required elements of the </a:t>
            </a:r>
            <a:r>
              <a:rPr lang="en-AU" sz="3600" dirty="0" err="1"/>
              <a:t>Connextra</a:t>
            </a:r>
            <a:r>
              <a:rPr lang="en-AU" sz="3600" dirty="0"/>
              <a:t> format and follow its structure.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User stories must be defined correctly on Jira.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58045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Functional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4000"/>
              <a:t>The project proposal requires you to distil the </a:t>
            </a:r>
            <a:r>
              <a:rPr lang="en-GB" sz="4000" b="1"/>
              <a:t>project specification </a:t>
            </a:r>
            <a:r>
              <a:rPr lang="en-GB" sz="4000"/>
              <a:t>into distinct </a:t>
            </a:r>
            <a:r>
              <a:rPr lang="en-GB" sz="4000" b="1"/>
              <a:t>functional requirements, </a:t>
            </a:r>
            <a:r>
              <a:rPr lang="en-GB" sz="4000"/>
              <a:t>typically around 6-8.</a:t>
            </a:r>
          </a:p>
          <a:p>
            <a:pPr>
              <a:buNone/>
            </a:pPr>
            <a:endParaRPr lang="en-GB" sz="4000" b="1"/>
          </a:p>
          <a:p>
            <a:pPr>
              <a:buNone/>
            </a:pPr>
            <a:r>
              <a:rPr lang="en-GB" sz="4000" b="1"/>
              <a:t>In other words, summarise the specification into about 6-8 ‘functionalities’.</a:t>
            </a:r>
            <a:endParaRPr lang="en-AU" sz="4000" b="1"/>
          </a:p>
          <a:p>
            <a:pPr>
              <a:buNone/>
            </a:pPr>
            <a:endParaRPr lang="en-GB" sz="4000" b="1"/>
          </a:p>
        </p:txBody>
      </p:sp>
    </p:spTree>
    <p:extLst>
      <p:ext uri="{BB962C8B-B14F-4D97-AF65-F5344CB8AC3E}">
        <p14:creationId xmlns:p14="http://schemas.microsoft.com/office/powerpoint/2010/main" val="397430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Functional requirement: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/>
              <a:t>User has the ability to search for recipes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/>
              <a:t>Software has an authentication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/>
              <a:t>User can interact with a chatbot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/>
              <a:t>Users can create custom recipes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600"/>
          </a:p>
          <a:p>
            <a:pPr marL="571500" indent="-571500"/>
            <a:endParaRPr lang="en-GB" sz="3600"/>
          </a:p>
          <a:p>
            <a:pPr marL="571500" indent="-571500"/>
            <a:endParaRPr lang="en-AU" sz="3600"/>
          </a:p>
        </p:txBody>
      </p:sp>
    </p:spTree>
    <p:extLst>
      <p:ext uri="{BB962C8B-B14F-4D97-AF65-F5344CB8AC3E}">
        <p14:creationId xmlns:p14="http://schemas.microsoft.com/office/powerpoint/2010/main" val="114677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User story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AU" sz="3600" dirty="0"/>
              <a:t>One </a:t>
            </a:r>
            <a:r>
              <a:rPr lang="en-AU" sz="3600" b="1" dirty="0"/>
              <a:t>functional requirement</a:t>
            </a:r>
            <a:r>
              <a:rPr lang="en-AU" sz="3600" dirty="0"/>
              <a:t> breaks down into </a:t>
            </a:r>
            <a:r>
              <a:rPr lang="en-AU" sz="3600" b="1" dirty="0"/>
              <a:t>one or more user stories</a:t>
            </a:r>
            <a:r>
              <a:rPr lang="en-AU" sz="3600" dirty="0"/>
              <a:t> </a:t>
            </a:r>
            <a:r>
              <a:rPr lang="en-AU" sz="3600" b="1" dirty="0"/>
              <a:t>(typically 4 to 5).</a:t>
            </a:r>
          </a:p>
          <a:p>
            <a:pPr>
              <a:buNone/>
            </a:pPr>
            <a:endParaRPr lang="en-AU" sz="3600" dirty="0"/>
          </a:p>
          <a:p>
            <a:pPr>
              <a:buNone/>
            </a:pPr>
            <a:r>
              <a:rPr lang="en-AU" sz="3600" dirty="0"/>
              <a:t>As a </a:t>
            </a:r>
            <a:r>
              <a:rPr lang="en-AU" sz="3600" i="1" dirty="0"/>
              <a:t>[type of user] </a:t>
            </a:r>
            <a:r>
              <a:rPr lang="en-AU" sz="3600" dirty="0"/>
              <a:t>I want to </a:t>
            </a:r>
            <a:r>
              <a:rPr lang="en-AU" sz="3600" i="1" dirty="0"/>
              <a:t>[some goal]</a:t>
            </a:r>
            <a:r>
              <a:rPr lang="en-AU" sz="3600" dirty="0"/>
              <a:t> so I can </a:t>
            </a:r>
            <a:r>
              <a:rPr lang="en-AU" sz="3600" i="1" dirty="0"/>
              <a:t>[some reason]</a:t>
            </a:r>
            <a:endParaRPr lang="en-AU" sz="3600" dirty="0"/>
          </a:p>
          <a:p>
            <a:pPr>
              <a:buNone/>
            </a:pPr>
            <a:endParaRPr lang="en-AU" sz="3600" dirty="0"/>
          </a:p>
          <a:p>
            <a:pPr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75126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On Jira…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AU" sz="3600" dirty="0"/>
              <a:t>Each user story should be an </a:t>
            </a:r>
            <a:r>
              <a:rPr lang="en-AU" sz="3600" b="1" dirty="0"/>
              <a:t>issue </a:t>
            </a:r>
            <a:r>
              <a:rPr lang="en-AU" sz="3600" dirty="0"/>
              <a:t>with the type </a:t>
            </a:r>
            <a:r>
              <a:rPr lang="en-AU" sz="3600" b="1" dirty="0"/>
              <a:t>‘Story’ </a:t>
            </a:r>
            <a:r>
              <a:rPr lang="en-AU" sz="3600" dirty="0"/>
              <a:t>in Jira.</a:t>
            </a:r>
          </a:p>
          <a:p>
            <a:pPr>
              <a:buNone/>
            </a:pPr>
            <a:endParaRPr lang="en-AU" sz="3600" dirty="0"/>
          </a:p>
          <a:p>
            <a:pPr>
              <a:buNone/>
            </a:pPr>
            <a:r>
              <a:rPr lang="en-AU" sz="3600" dirty="0"/>
              <a:t>User stories may be assigned a </a:t>
            </a:r>
            <a:r>
              <a:rPr lang="en-AU" sz="3600" b="1" dirty="0"/>
              <a:t>functional requirement</a:t>
            </a:r>
            <a:r>
              <a:rPr lang="en-AU" sz="3600" dirty="0"/>
              <a:t> by creating an </a:t>
            </a:r>
            <a:r>
              <a:rPr lang="en-AU" sz="3600" b="1" dirty="0"/>
              <a:t>epic.</a:t>
            </a:r>
            <a:endParaRPr lang="en-AU" sz="3600" dirty="0"/>
          </a:p>
          <a:p>
            <a:pPr>
              <a:buNone/>
            </a:pPr>
            <a:endParaRPr lang="en-AU" sz="3600" dirty="0"/>
          </a:p>
          <a:p>
            <a:pPr>
              <a:buNone/>
            </a:pPr>
            <a:r>
              <a:rPr lang="en-AU" sz="3600" dirty="0"/>
              <a:t>A user story’s </a:t>
            </a:r>
            <a:r>
              <a:rPr lang="en-AU" sz="3600" b="1" dirty="0"/>
              <a:t>acceptance criteria </a:t>
            </a:r>
            <a:r>
              <a:rPr lang="en-AU" sz="3600" dirty="0"/>
              <a:t>should be put in </a:t>
            </a:r>
            <a:r>
              <a:rPr lang="en-AU" sz="3600" b="1" dirty="0"/>
              <a:t>issue description.</a:t>
            </a:r>
            <a:endParaRPr lang="en-AU" sz="3600" dirty="0"/>
          </a:p>
          <a:p>
            <a:pPr>
              <a:buNone/>
            </a:pPr>
            <a:endParaRPr lang="en-AU" sz="3600" dirty="0"/>
          </a:p>
          <a:p>
            <a:pPr>
              <a:buNone/>
            </a:pPr>
            <a:endParaRPr lang="en-AU" sz="3600" dirty="0"/>
          </a:p>
          <a:p>
            <a:pPr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50580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User stories &amp; sprints (25%)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3600" dirty="0"/>
              <a:t>2. Identify the user stories in scope for the first sprint with screenshots showing all user stories allocated to the first sprint in Jira.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A </a:t>
            </a:r>
            <a:r>
              <a:rPr lang="en-AU" sz="3600" b="1" dirty="0"/>
              <a:t>realistic amount of work</a:t>
            </a:r>
            <a:r>
              <a:rPr lang="en-AU" sz="3600" dirty="0"/>
              <a:t> must be allocated to the first sprint.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76447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User stories &amp; sprints (25%)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sz="3600" dirty="0"/>
              <a:t>3. Defines the start and end dates for all sprints envisaged during the term. Briefly describe your milestones for each sprint.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An appropriate sprint structure would be a 3 sprint structure with the following dates:</a:t>
            </a:r>
          </a:p>
          <a:p>
            <a:pPr marL="801900" lvl="1" indent="-571500"/>
            <a:r>
              <a:rPr lang="en-GB" sz="3200" b="1" dirty="0"/>
              <a:t>Sprint 1: </a:t>
            </a:r>
            <a:r>
              <a:rPr lang="en-GB" sz="3200" dirty="0"/>
              <a:t>Week 3 Lab Time → Week 5 Lab Time (2 weeks)</a:t>
            </a:r>
          </a:p>
          <a:p>
            <a:pPr marL="801900" lvl="1" indent="-571500"/>
            <a:r>
              <a:rPr lang="en-GB" sz="3200" b="1" dirty="0"/>
              <a:t>Sprint 2: </a:t>
            </a:r>
            <a:r>
              <a:rPr lang="en-GB" sz="3200" dirty="0"/>
              <a:t>Week 5 Lab Time → Week 8 Lab Time (2 weeks excl. flex week)</a:t>
            </a:r>
          </a:p>
          <a:p>
            <a:pPr marL="801900" lvl="1" indent="-571500"/>
            <a:r>
              <a:rPr lang="en-GB" sz="3200" b="1" dirty="0"/>
              <a:t>Sprint 3: </a:t>
            </a:r>
            <a:r>
              <a:rPr lang="en-GB" sz="3200" dirty="0"/>
              <a:t>Week 8 Lab Time → Week 10 Lab Time (2 weeks)</a:t>
            </a:r>
          </a:p>
          <a:p>
            <a:pPr>
              <a:buNone/>
            </a:pPr>
            <a:r>
              <a:rPr lang="en-AU" sz="3600" dirty="0"/>
              <a:t>These dates allow you to complete each sprint right before each demo.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19875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AU" sz="3600" b="1" dirty="0"/>
              <a:t>1. System architecture diagram</a:t>
            </a:r>
          </a:p>
          <a:p>
            <a:pPr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Here we are assessing your ability to design a system by breaking it down into distinct components.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b="1" dirty="0"/>
              <a:t>It is not sufficient to merely outline the technologies you use plan to use (e.g. a tech stack).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50651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3300" b="1" dirty="0"/>
              <a:t>System architecture diagram</a:t>
            </a:r>
          </a:p>
          <a:p>
            <a:pPr>
              <a:buNone/>
            </a:pPr>
            <a:endParaRPr lang="en-AU" sz="3300" b="1" dirty="0"/>
          </a:p>
          <a:p>
            <a:pPr>
              <a:buNone/>
            </a:pPr>
            <a:r>
              <a:rPr lang="en-GB" dirty="0">
                <a:effectLst/>
              </a:rPr>
              <a:t>For web-development and other development focused projects, make sure your diagram clearly demonstrates: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ffectLst/>
              </a:rPr>
              <a:t>how different components of the backend interact with each other.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ffectLst/>
              </a:rPr>
              <a:t>how the backend communicates with the frontend.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effectLst/>
              </a:rPr>
              <a:t>how your software communicates with external databases, APIs, and other services.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04722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3300" b="1" dirty="0"/>
              <a:t>System architecture diagram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3200" dirty="0"/>
              <a:t>For machine-learning and research projects, make sure your </a:t>
            </a:r>
            <a:r>
              <a:rPr lang="en-US" sz="3200" b="1" dirty="0"/>
              <a:t>diagram </a:t>
            </a:r>
            <a:r>
              <a:rPr lang="en-US" sz="3200" dirty="0"/>
              <a:t>clearly demonstrates the </a:t>
            </a:r>
            <a:r>
              <a:rPr lang="en-US" sz="3200" b="1" dirty="0"/>
              <a:t>interactions between your models</a:t>
            </a:r>
            <a:r>
              <a:rPr lang="en-US" sz="3200" dirty="0"/>
              <a:t>, the transfer of data to and from where it is stored, how external components such as a user interface interact with a backend that processes requests, and how the backend manages different models.</a:t>
            </a:r>
            <a:endParaRPr lang="en-AU" sz="4000" b="1" dirty="0"/>
          </a:p>
          <a:p>
            <a:pPr>
              <a:buNone/>
            </a:pPr>
            <a:endParaRPr lang="en-AU" sz="3300" b="1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28955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3300" b="1" dirty="0"/>
              <a:t>System architecture diagram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GB" sz="3200" dirty="0"/>
              <a:t>Can be in the form of a UML diagram or any reasonable format.</a:t>
            </a:r>
          </a:p>
          <a:p>
            <a:pPr>
              <a:buNone/>
            </a:pPr>
            <a:endParaRPr lang="en-GB" sz="3200" dirty="0"/>
          </a:p>
          <a:p>
            <a:pPr>
              <a:buNone/>
            </a:pPr>
            <a:r>
              <a:rPr lang="en-GB" sz="3200" dirty="0"/>
              <a:t>Some recommended websites to develop these are Draw.io and </a:t>
            </a:r>
            <a:r>
              <a:rPr lang="en-GB" sz="3200" dirty="0" err="1"/>
              <a:t>LucidCharts</a:t>
            </a:r>
            <a:r>
              <a:rPr lang="en-GB" sz="3200" dirty="0"/>
              <a:t>.</a:t>
            </a: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7AA3E5-F856-4D2B-9569-D0F90045193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52381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AU" sz="3600" b="1" dirty="0"/>
              <a:t>2. A choice between storyboards and literature review</a:t>
            </a:r>
          </a:p>
          <a:p>
            <a:pPr>
              <a:buNone/>
            </a:pPr>
            <a:endParaRPr lang="en-AU" sz="3600" dirty="0"/>
          </a:p>
          <a:p>
            <a:pPr>
              <a:buNone/>
            </a:pPr>
            <a:r>
              <a:rPr lang="en-AU" sz="3600" b="1" dirty="0"/>
              <a:t>Option 1: Storyboards:</a:t>
            </a:r>
          </a:p>
          <a:p>
            <a:pPr marL="0" indent="0">
              <a:buNone/>
            </a:pPr>
            <a:r>
              <a:rPr lang="en-AU" sz="3600" dirty="0"/>
              <a:t>Draw UI storyboards covering </a:t>
            </a:r>
            <a:r>
              <a:rPr lang="en-AU" sz="3600" b="1" dirty="0"/>
              <a:t>all major functionality.</a:t>
            </a:r>
          </a:p>
          <a:p>
            <a:pPr marL="0" indent="0">
              <a:buNone/>
            </a:pPr>
            <a:r>
              <a:rPr lang="en-AU" sz="3600" b="1" dirty="0"/>
              <a:t>Indicate what user story/stories is/are being covered by a storyboard.</a:t>
            </a:r>
          </a:p>
          <a:p>
            <a:pPr marL="0" indent="0">
              <a:buNone/>
            </a:pPr>
            <a:r>
              <a:rPr lang="en-AU" sz="3600" dirty="0"/>
              <a:t>Show the design of the interface as well as the navigation flow.</a:t>
            </a:r>
          </a:p>
          <a:p>
            <a:pPr marL="0" indent="0">
              <a:buNone/>
            </a:pPr>
            <a:r>
              <a:rPr lang="en-AU" sz="3600" dirty="0"/>
              <a:t>It is recommended to use Figma.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B6EB66-9FD0-9448-6DCC-B305D039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39800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AU" sz="3600" b="1" dirty="0"/>
              <a:t>2. A choice between storyboards and literature review</a:t>
            </a:r>
          </a:p>
          <a:p>
            <a:pPr>
              <a:buNone/>
            </a:pPr>
            <a:endParaRPr lang="en-AU" sz="3600" dirty="0"/>
          </a:p>
          <a:p>
            <a:pPr>
              <a:buNone/>
            </a:pPr>
            <a:r>
              <a:rPr lang="en-AU" sz="3600" b="1" dirty="0"/>
              <a:t>Option 2: Literature review</a:t>
            </a:r>
          </a:p>
          <a:p>
            <a:pPr>
              <a:buNone/>
            </a:pPr>
            <a:r>
              <a:rPr lang="en-GB" sz="3600" dirty="0"/>
              <a:t>Conduct a literature review to determine the current research methods relevant to your project, including:</a:t>
            </a:r>
          </a:p>
          <a:p>
            <a:pPr>
              <a:buFont typeface="+mj-lt"/>
              <a:buAutoNum type="arabicPeriod"/>
            </a:pPr>
            <a:r>
              <a:rPr lang="en-GB" dirty="0"/>
              <a:t> what research exists related to your chosen project.</a:t>
            </a:r>
          </a:p>
          <a:p>
            <a:pPr>
              <a:buFont typeface="+mj-lt"/>
              <a:buAutoNum type="arabicPeriod"/>
            </a:pPr>
            <a:r>
              <a:rPr lang="en-GB" dirty="0"/>
              <a:t> the novel methodology used in this research and how you build on top of that with your own planned project.</a:t>
            </a:r>
          </a:p>
          <a:p>
            <a:pPr>
              <a:buFont typeface="+mj-lt"/>
              <a:buAutoNum type="arabicPeriod"/>
            </a:pPr>
            <a:r>
              <a:rPr lang="en-GB" dirty="0"/>
              <a:t> the evaluation metrics used to evaluate their models. </a:t>
            </a:r>
          </a:p>
          <a:p>
            <a:pPr>
              <a:buFont typeface="+mj-lt"/>
              <a:buAutoNum type="arabicPeriod"/>
            </a:pPr>
            <a:r>
              <a:rPr lang="en-GB" dirty="0"/>
              <a:t> the limitations of prior models and how you plan to overcome these </a:t>
            </a:r>
          </a:p>
          <a:p>
            <a:pPr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B6EB66-9FD0-9448-6DCC-B305D039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28227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AU" sz="3600" b="1" dirty="0"/>
              <a:t>3. Design justifications</a:t>
            </a:r>
          </a:p>
          <a:p>
            <a:pPr>
              <a:buNone/>
            </a:pPr>
            <a:endParaRPr lang="en-AU" sz="3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should include: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Breaking down the problem you have chosen into more manageable subproblems.</a:t>
            </a:r>
          </a:p>
          <a:p>
            <a:pPr marL="457200" indent="-457200">
              <a:buAutoNum type="arabicPeriod"/>
            </a:pPr>
            <a:r>
              <a:rPr lang="en-GB" dirty="0"/>
              <a:t>A </a:t>
            </a:r>
            <a:r>
              <a:rPr lang="en-GB" b="1" dirty="0"/>
              <a:t>summary </a:t>
            </a:r>
            <a:r>
              <a:rPr lang="en-GB" dirty="0"/>
              <a:t>of how you plan to solve each subproblem. </a:t>
            </a:r>
          </a:p>
          <a:p>
            <a:pPr marL="457200" indent="-457200">
              <a:buAutoNum type="arabicPeriod"/>
            </a:pPr>
            <a:r>
              <a:rPr lang="en-GB" dirty="0"/>
              <a:t>For the more complex subproblems, </a:t>
            </a:r>
            <a:r>
              <a:rPr lang="en-GB" b="1" dirty="0"/>
              <a:t>brainstorm alternative solutions </a:t>
            </a:r>
            <a:r>
              <a:rPr lang="en-GB" dirty="0"/>
              <a:t>and </a:t>
            </a:r>
            <a:r>
              <a:rPr lang="en-GB" b="1" dirty="0"/>
              <a:t>justify </a:t>
            </a:r>
            <a:r>
              <a:rPr lang="en-GB" dirty="0"/>
              <a:t>why you chose the solution you did rather than the alternatives.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Also discuss how your solution provides novel functionality beyond existing systems wherever relevant in your design justifications.</a:t>
            </a:r>
            <a:endParaRPr lang="en-GB" dirty="0"/>
          </a:p>
          <a:p>
            <a:pPr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B6EB66-9FD0-9448-6DCC-B305D039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71445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CF1-2165-491D-9618-5A7E83A5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AU" sz="3600" b="1" dirty="0"/>
              <a:t>4. How objectives are satisfied by user stories</a:t>
            </a:r>
          </a:p>
          <a:p>
            <a:pPr>
              <a:buNone/>
            </a:pPr>
            <a:endParaRPr lang="en-AU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Indicate the user stories that cover each functional requirement or objective.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AU" sz="3600" dirty="0"/>
              <a:t>You can use a table which lays out each functional requirement and the user stories that cover that requirement.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B6EB66-9FD0-9448-6DCC-B305D039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AU" dirty="0"/>
              <a:t>3. Technical design (55%)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24850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x9v1.0_Clancy.potx" id="{E21B8FAC-FCA7-410E-A000-B30E38C2AC3E}" vid="{5A26FC54-E506-44D2-ADAD-52B2BE581DA5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x9v1.0_Clancy.potx" id="{E21B8FAC-FCA7-410E-A000-B30E38C2AC3E}" vid="{6917A901-E2C4-4D30-9D19-6BDEA5E83555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x9v1.0_Clancy.potx" id="{E21B8FAC-FCA7-410E-A000-B30E38C2AC3E}" vid="{1E61FE17-81A8-4A69-9494-A990AD8ABD2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C3E86B88228445B59958DC4B1D483A" ma:contentTypeVersion="18" ma:contentTypeDescription="Create a new document." ma:contentTypeScope="" ma:versionID="b0504000c7b326cf90d76934737aa2d8">
  <xsd:schema xmlns:xsd="http://www.w3.org/2001/XMLSchema" xmlns:xs="http://www.w3.org/2001/XMLSchema" xmlns:p="http://schemas.microsoft.com/office/2006/metadata/properties" xmlns:ns3="f8f9c9ec-8bc0-4b12-a8ce-2bb915e62174" xmlns:ns4="bcd1c534-668d-4b09-a2ba-eb71ae51fa55" targetNamespace="http://schemas.microsoft.com/office/2006/metadata/properties" ma:root="true" ma:fieldsID="14bec56d5a5260b6e58f388cc84dce17" ns3:_="" ns4:_="">
    <xsd:import namespace="f8f9c9ec-8bc0-4b12-a8ce-2bb915e62174"/>
    <xsd:import namespace="bcd1c534-668d-4b09-a2ba-eb71ae51fa5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9c9ec-8bc0-4b12-a8ce-2bb915e621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1c534-668d-4b09-a2ba-eb71ae51fa5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f9c9ec-8bc0-4b12-a8ce-2bb915e621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E7FE88-01C5-4961-BD14-65A5382E3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f9c9ec-8bc0-4b12-a8ce-2bb915e62174"/>
    <ds:schemaRef ds:uri="bcd1c534-668d-4b09-a2ba-eb71ae51fa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841C7C-F131-4C36-A4E5-49EC0F8F9283}">
  <ds:schemaRefs>
    <ds:schemaRef ds:uri="http://www.w3.org/XML/1998/namespace"/>
    <ds:schemaRef ds:uri="bcd1c534-668d-4b09-a2ba-eb71ae51fa55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f8f9c9ec-8bc0-4b12-a8ce-2bb915e62174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4CE50DB-8783-4AD8-B259-C700BB7E5A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UNSW</Template>
  <TotalTime>2236</TotalTime>
  <Words>1302</Words>
  <Application>Microsoft Macintosh PowerPoint</Application>
  <PresentationFormat>Widescreen</PresentationFormat>
  <Paragraphs>163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Roboto</vt:lpstr>
      <vt:lpstr>Arial</vt:lpstr>
      <vt:lpstr>Clancy</vt:lpstr>
      <vt:lpstr>Calibri</vt:lpstr>
      <vt:lpstr>Office Theme</vt:lpstr>
      <vt:lpstr>1_Custom Design</vt:lpstr>
      <vt:lpstr>2_Custom Design</vt:lpstr>
      <vt:lpstr>COMP9900 Lab Week 2</vt:lpstr>
      <vt:lpstr>Guest Lecture – Atlassian </vt:lpstr>
      <vt:lpstr>Software Fundamentals Primers</vt:lpstr>
      <vt:lpstr>Teamwork and Collaboration Assessment</vt:lpstr>
      <vt:lpstr>Client Communication Issues</vt:lpstr>
      <vt:lpstr>Proposal overview</vt:lpstr>
      <vt:lpstr>Proposal</vt:lpstr>
      <vt:lpstr>Formatting requirements </vt:lpstr>
      <vt:lpstr>1: Background (15%)</vt:lpstr>
      <vt:lpstr>1: Background (15%)</vt:lpstr>
      <vt:lpstr>2. User stories &amp; sprints (25%)</vt:lpstr>
      <vt:lpstr>Functional requirement</vt:lpstr>
      <vt:lpstr>Functional requirement: examples</vt:lpstr>
      <vt:lpstr>User story reminder</vt:lpstr>
      <vt:lpstr>On Jira…</vt:lpstr>
      <vt:lpstr>2. User stories &amp; sprints (25%)</vt:lpstr>
      <vt:lpstr>2. User stories &amp; sprints (25%)</vt:lpstr>
      <vt:lpstr>3. Technical design (55%)</vt:lpstr>
      <vt:lpstr>3. Technical design (55%)</vt:lpstr>
      <vt:lpstr>3. Technical design (55%)</vt:lpstr>
      <vt:lpstr>3. Technical design (55%)</vt:lpstr>
      <vt:lpstr>3. Technical design (55%)</vt:lpstr>
      <vt:lpstr>3. Technical design (55%)</vt:lpstr>
      <vt:lpstr>3. Technical design (55%)</vt:lpstr>
      <vt:lpstr>3. Technical design (55%)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</dc:title>
  <dc:creator>Jonathan Liu</dc:creator>
  <cp:lastModifiedBy>Piyavachara Nacchanandana</cp:lastModifiedBy>
  <cp:revision>9</cp:revision>
  <dcterms:created xsi:type="dcterms:W3CDTF">2022-03-05T02:55:33Z</dcterms:created>
  <dcterms:modified xsi:type="dcterms:W3CDTF">2025-02-25T20:53:12Z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0x01010021C3E86B88228445B59958DC4B1D483A</vt:lpwstr>
  </property>
</Properties>
</file>